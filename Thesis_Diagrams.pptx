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0"/>
          <p:cNvSpPr/>
          <p:nvPr/>
        </p:nvSpPr>
        <p:spPr>
          <a:xfrm>
            <a:off x="4896000" y="150000"/>
            <a:ext cx="2400000" cy="420000"/>
          </a:xfrm>
          <a:prstGeom prst="diamond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Problem
identification</a:t>
            </a:r>
          </a:p>
        </p:txBody>
      </p:sp>
      <p:cxnSp>
        <p:nvCxnSpPr>
          <p:cNvPr id="3" name="arr0"/>
          <p:cNvCxnSpPr/>
          <p:nvPr/>
        </p:nvCxnSpPr>
        <p:spPr>
          <a:xfrm>
            <a:off x="6096000" y="57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4" name="box1"/>
          <p:cNvSpPr/>
          <p:nvPr/>
        </p:nvSpPr>
        <p:spPr>
          <a:xfrm>
            <a:off x="4896000" y="670000"/>
            <a:ext cx="2400000" cy="4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Site selection</a:t>
            </a:r>
          </a:p>
        </p:txBody>
      </p:sp>
      <p:cxnSp>
        <p:nvCxnSpPr>
          <p:cNvPr id="5" name="arr1"/>
          <p:cNvCxnSpPr/>
          <p:nvPr/>
        </p:nvCxnSpPr>
        <p:spPr>
          <a:xfrm>
            <a:off x="6096000" y="109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6" name="box2"/>
          <p:cNvSpPr/>
          <p:nvPr/>
        </p:nvSpPr>
        <p:spPr>
          <a:xfrm>
            <a:off x="4896000" y="1190000"/>
            <a:ext cx="2400000" cy="4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cxnSp>
        <p:nvCxnSpPr>
          <p:cNvPr id="7" name="arr2"/>
          <p:cNvCxnSpPr/>
          <p:nvPr/>
        </p:nvCxnSpPr>
        <p:spPr>
          <a:xfrm>
            <a:off x="6096000" y="161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8" name="box3"/>
          <p:cNvSpPr/>
          <p:nvPr/>
        </p:nvSpPr>
        <p:spPr>
          <a:xfrm>
            <a:off x="4896000" y="1710000"/>
            <a:ext cx="2400000" cy="4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Field observation</a:t>
            </a:r>
          </a:p>
        </p:txBody>
      </p:sp>
      <p:cxnSp>
        <p:nvCxnSpPr>
          <p:cNvPr id="9" name="arr3"/>
          <p:cNvCxnSpPr/>
          <p:nvPr/>
        </p:nvCxnSpPr>
        <p:spPr>
          <a:xfrm>
            <a:off x="6096000" y="213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10" name="box4"/>
          <p:cNvSpPr/>
          <p:nvPr/>
        </p:nvSpPr>
        <p:spPr>
          <a:xfrm>
            <a:off x="4896000" y="2230000"/>
            <a:ext cx="2400000" cy="42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cxnSp>
        <p:nvCxnSpPr>
          <p:cNvPr id="11" name="arrL"/>
          <p:cNvCxnSpPr/>
          <p:nvPr/>
        </p:nvCxnSpPr>
        <p:spPr>
          <a:xfrm>
            <a:off x="5796000" y="2650000"/>
            <a:ext cx="-1500000" cy="4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cxnSp>
        <p:nvCxnSpPr>
          <p:cNvPr id="12" name="arrR"/>
          <p:cNvCxnSpPr/>
          <p:nvPr/>
        </p:nvCxnSpPr>
        <p:spPr>
          <a:xfrm>
            <a:off x="6396000" y="2650000"/>
            <a:ext cx="1500000" cy="4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13" name="primary"/>
          <p:cNvSpPr/>
          <p:nvPr/>
        </p:nvSpPr>
        <p:spPr>
          <a:xfrm>
            <a:off x="2696000" y="2750000"/>
            <a:ext cx="1800000" cy="42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4" name="secondary"/>
          <p:cNvSpPr/>
          <p:nvPr/>
        </p:nvSpPr>
        <p:spPr>
          <a:xfrm>
            <a:off x="7696000" y="2750000"/>
            <a:ext cx="1800000" cy="42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15" name="plist"/>
          <p:cNvSpPr txBox="1"/>
          <p:nvPr/>
        </p:nvSpPr>
        <p:spPr>
          <a:xfrm>
            <a:off x="2696000" y="322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Questionnaire Survey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KII (Key Informative Interview)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Observational Survey</a:t>
            </a:r>
          </a:p>
        </p:txBody>
      </p:sp>
      <p:sp>
        <p:nvSpPr>
          <p:cNvPr id="16" name="slist"/>
          <p:cNvSpPr txBox="1"/>
          <p:nvPr/>
        </p:nvSpPr>
        <p:spPr>
          <a:xfrm>
            <a:off x="7696000" y="322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Govt. website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Upazila Administrative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Books, Journal and Articles</a:t>
            </a:r>
          </a:p>
        </p:txBody>
      </p:sp>
      <p:sp>
        <p:nvSpPr>
          <p:cNvPr id="17" name="bot0"/>
          <p:cNvSpPr/>
          <p:nvPr/>
        </p:nvSpPr>
        <p:spPr>
          <a:xfrm>
            <a:off x="4896000" y="3850000"/>
            <a:ext cx="2400000" cy="42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Data acquisition</a:t>
            </a:r>
          </a:p>
        </p:txBody>
      </p:sp>
      <p:cxnSp>
        <p:nvCxnSpPr>
          <p:cNvPr id="18" name="botarr0"/>
          <p:cNvCxnSpPr/>
          <p:nvPr/>
        </p:nvCxnSpPr>
        <p:spPr>
          <a:xfrm>
            <a:off x="6096000" y="427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19" name="bot1"/>
          <p:cNvSpPr/>
          <p:nvPr/>
        </p:nvSpPr>
        <p:spPr>
          <a:xfrm>
            <a:off x="4896000" y="4370000"/>
            <a:ext cx="2400000" cy="42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Data analysis</a:t>
            </a:r>
          </a:p>
        </p:txBody>
      </p:sp>
      <p:cxnSp>
        <p:nvCxnSpPr>
          <p:cNvPr id="20" name="botarr1"/>
          <p:cNvCxnSpPr/>
          <p:nvPr/>
        </p:nvCxnSpPr>
        <p:spPr>
          <a:xfrm>
            <a:off x="6096000" y="479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21" name="bot2"/>
          <p:cNvSpPr/>
          <p:nvPr/>
        </p:nvSpPr>
        <p:spPr>
          <a:xfrm>
            <a:off x="4896000" y="4890000"/>
            <a:ext cx="2400000" cy="4200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Draft report</a:t>
            </a:r>
          </a:p>
        </p:txBody>
      </p:sp>
      <p:cxnSp>
        <p:nvCxnSpPr>
          <p:cNvPr id="22" name="botarr2"/>
          <p:cNvCxnSpPr/>
          <p:nvPr/>
        </p:nvCxnSpPr>
        <p:spPr>
          <a:xfrm>
            <a:off x="6096000" y="5310000"/>
            <a:ext cx="0" cy="10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sp>
        <p:nvSpPr>
          <p:cNvPr id="23" name="bot3"/>
          <p:cNvSpPr/>
          <p:nvPr/>
        </p:nvSpPr>
        <p:spPr>
          <a:xfrm>
            <a:off x="4896000" y="5410000"/>
            <a:ext cx="2400000" cy="4200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</a:ln>
        </p:spPr>
        <p:txBody>
          <a:bodyPr wrap="square" anchor="ctr" anchorCtr="1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Final report</a:t>
            </a:r>
          </a:p>
        </p:txBody>
      </p:sp>
      <p:sp>
        <p:nvSpPr>
          <p:cNvPr id="24" name="alist"/>
          <p:cNvSpPr txBox="1"/>
          <p:nvPr/>
        </p:nvSpPr>
        <p:spPr>
          <a:xfrm>
            <a:off x="4896000" y="4820000"/>
            <a:ext cx="2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Descriptive analysis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Quantitative analysis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Calibri"/>
              </a:rPr>
              <a:t>• Statistical analysis</a:t>
            </a:r>
          </a:p>
        </p:txBody>
      </p:sp>
      <p:cxnSp>
        <p:nvCxnSpPr>
          <p:cNvPr id="25" name="convL"/>
          <p:cNvCxnSpPr/>
          <p:nvPr/>
        </p:nvCxnSpPr>
        <p:spPr>
          <a:xfrm>
            <a:off x="3596000" y="3170000"/>
            <a:ext cx="1300000" cy="89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  <p:cxnSp>
        <p:nvCxnSpPr>
          <p:cNvPr id="26" name="convR"/>
          <p:cNvCxnSpPr/>
          <p:nvPr/>
        </p:nvCxnSpPr>
        <p:spPr>
          <a:xfrm>
            <a:off x="8596000" y="3170000"/>
            <a:ext cx="-1300000" cy="89000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</p:cxn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00000" y="1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 b="1">
                <a:solidFill>
                  <a:srgbClr val="FF0000"/>
                </a:solidFill>
                <a:latin typeface="Calibri"/>
              </a:rPr>
              <a:t>Time line on development of shrimp aquaculture</a:t>
            </a:r>
          </a:p>
        </p:txBody>
      </p:sp>
      <p:sp>
        <p:nvSpPr>
          <p:cNvPr id="3" name="period0"/>
          <p:cNvSpPr/>
          <p:nvPr/>
        </p:nvSpPr>
        <p:spPr>
          <a:xfrm>
            <a:off x="400000" y="3000000"/>
            <a:ext cx="1200000" cy="50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Before
1970</a:t>
            </a:r>
          </a:p>
        </p:txBody>
      </p:sp>
      <p:cxnSp>
        <p:nvCxnSpPr>
          <p:cNvPr id="4" name="tarr0"/>
          <p:cNvCxnSpPr/>
          <p:nvPr/>
        </p:nvCxnSpPr>
        <p:spPr>
          <a:xfrm>
            <a:off x="16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5" name="period1"/>
          <p:cNvSpPr/>
          <p:nvPr/>
        </p:nvSpPr>
        <p:spPr>
          <a:xfrm>
            <a:off x="1900000" y="3000000"/>
            <a:ext cx="1200000" cy="50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1970-
1980</a:t>
            </a:r>
          </a:p>
        </p:txBody>
      </p:sp>
      <p:cxnSp>
        <p:nvCxnSpPr>
          <p:cNvPr id="6" name="tarr1"/>
          <p:cNvCxnSpPr/>
          <p:nvPr/>
        </p:nvCxnSpPr>
        <p:spPr>
          <a:xfrm>
            <a:off x="31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7" name="period2"/>
          <p:cNvSpPr/>
          <p:nvPr/>
        </p:nvSpPr>
        <p:spPr>
          <a:xfrm>
            <a:off x="3400000" y="3000000"/>
            <a:ext cx="1200000" cy="50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1990-
1994</a:t>
            </a:r>
          </a:p>
        </p:txBody>
      </p:sp>
      <p:cxnSp>
        <p:nvCxnSpPr>
          <p:cNvPr id="8" name="tarr2"/>
          <p:cNvCxnSpPr/>
          <p:nvPr/>
        </p:nvCxnSpPr>
        <p:spPr>
          <a:xfrm>
            <a:off x="46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9" name="period3"/>
          <p:cNvSpPr/>
          <p:nvPr/>
        </p:nvSpPr>
        <p:spPr>
          <a:xfrm>
            <a:off x="4900000" y="3000000"/>
            <a:ext cx="1200000" cy="500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1994</a:t>
            </a:r>
          </a:p>
        </p:txBody>
      </p:sp>
      <p:cxnSp>
        <p:nvCxnSpPr>
          <p:cNvPr id="10" name="tarr3"/>
          <p:cNvCxnSpPr/>
          <p:nvPr/>
        </p:nvCxnSpPr>
        <p:spPr>
          <a:xfrm>
            <a:off x="61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11" name="period4"/>
          <p:cNvSpPr/>
          <p:nvPr/>
        </p:nvSpPr>
        <p:spPr>
          <a:xfrm>
            <a:off x="6400000" y="3000000"/>
            <a:ext cx="1200000" cy="50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1995-
2005</a:t>
            </a:r>
          </a:p>
        </p:txBody>
      </p:sp>
      <p:cxnSp>
        <p:nvCxnSpPr>
          <p:cNvPr id="12" name="tarr4"/>
          <p:cNvCxnSpPr/>
          <p:nvPr/>
        </p:nvCxnSpPr>
        <p:spPr>
          <a:xfrm>
            <a:off x="76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13" name="period5"/>
          <p:cNvSpPr/>
          <p:nvPr/>
        </p:nvSpPr>
        <p:spPr>
          <a:xfrm>
            <a:off x="7900000" y="3000000"/>
            <a:ext cx="1200000" cy="500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2008</a:t>
            </a:r>
          </a:p>
        </p:txBody>
      </p:sp>
      <p:cxnSp>
        <p:nvCxnSpPr>
          <p:cNvPr id="14" name="tarr5"/>
          <p:cNvCxnSpPr/>
          <p:nvPr/>
        </p:nvCxnSpPr>
        <p:spPr>
          <a:xfrm>
            <a:off x="9100000" y="3250000"/>
            <a:ext cx="300000" cy="0"/>
          </a:xfrm>
          <a:prstGeom prst="straightConnector1">
            <a:avLst/>
          </a:prstGeom>
          <a:ln w="25400">
            <a:solidFill>
              <a:srgbClr val="7B1FA2"/>
            </a:solidFill>
            <a:tailEnd type="triangle"/>
          </a:ln>
        </p:spPr>
      </p:cxnSp>
      <p:sp>
        <p:nvSpPr>
          <p:cNvPr id="15" name="period6"/>
          <p:cNvSpPr/>
          <p:nvPr/>
        </p:nvSpPr>
        <p:spPr>
          <a:xfrm>
            <a:off x="9400000" y="3000000"/>
            <a:ext cx="1200000" cy="50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2009
Till
date</a:t>
            </a:r>
          </a:p>
        </p:txBody>
      </p:sp>
      <p:sp>
        <p:nvSpPr>
          <p:cNvPr id="16" name="top1"/>
          <p:cNvSpPr txBox="1"/>
          <p:nvPr/>
        </p:nvSpPr>
        <p:spPr>
          <a:xfrm>
            <a:off x="1800000" y="2100000"/>
            <a:ext cx="14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Induced breeding
Penaeus indicus
basic biological
studies</a:t>
            </a:r>
          </a:p>
        </p:txBody>
      </p:sp>
      <p:sp>
        <p:nvSpPr>
          <p:cNvPr id="17" name="top3"/>
          <p:cNvSpPr txBox="1"/>
          <p:nvPr/>
        </p:nvSpPr>
        <p:spPr>
          <a:xfrm>
            <a:off x="4800000" y="2100000"/>
            <a:ext cx="14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First out break of WSSV
in India</a:t>
            </a:r>
          </a:p>
        </p:txBody>
      </p:sp>
      <p:sp>
        <p:nvSpPr>
          <p:cNvPr id="18" name="top5"/>
          <p:cNvSpPr txBox="1"/>
          <p:nvPr/>
        </p:nvSpPr>
        <p:spPr>
          <a:xfrm>
            <a:off x="7800000" y="2100000"/>
            <a:ext cx="14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Introduction of
vannamei</a:t>
            </a:r>
          </a:p>
        </p:txBody>
      </p:sp>
      <p:sp>
        <p:nvSpPr>
          <p:cNvPr id="19" name="bot0"/>
          <p:cNvSpPr txBox="1"/>
          <p:nvPr/>
        </p:nvSpPr>
        <p:spPr>
          <a:xfrm>
            <a:off x="300000" y="3700000"/>
            <a:ext cx="14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Initial experiment
on traditional
shrimp farms of
Kerala a</a:t>
            </a:r>
          </a:p>
        </p:txBody>
      </p:sp>
      <p:sp>
        <p:nvSpPr>
          <p:cNvPr id="20" name="bot2"/>
          <p:cNvSpPr txBox="1"/>
          <p:nvPr/>
        </p:nvSpPr>
        <p:spPr>
          <a:xfrm>
            <a:off x="3300000" y="3700000"/>
            <a:ext cx="14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Boom period of
shrimp culture
Penaeus monodon</a:t>
            </a:r>
          </a:p>
        </p:txBody>
      </p:sp>
      <p:sp>
        <p:nvSpPr>
          <p:cNvPr id="21" name="bot4"/>
          <p:cNvSpPr txBox="1"/>
          <p:nvPr/>
        </p:nvSpPr>
        <p:spPr>
          <a:xfrm>
            <a:off x="6300000" y="3700000"/>
            <a:ext cx="14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Supreme court
verdict for
regulation of
shrimp farming
CAA established</a:t>
            </a:r>
          </a:p>
        </p:txBody>
      </p:sp>
      <p:sp>
        <p:nvSpPr>
          <p:cNvPr id="22" name="bot6"/>
          <p:cNvSpPr txBox="1"/>
          <p:nvPr/>
        </p:nvSpPr>
        <p:spPr>
          <a:xfrm>
            <a:off x="9300000" y="3700000"/>
            <a:ext cx="14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/>
              </a:rPr>
              <a:t>Total farmed
shrimp production
reached up to
4.2 lakh tones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000000" y="100000"/>
            <a:ext cx="6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2000" b="1">
                <a:solidFill>
                  <a:srgbClr val="000000"/>
                </a:solidFill>
                <a:latin typeface="Calibri"/>
              </a:rPr>
              <a:t>Vannamei Shrimp Life Cycle</a:t>
            </a:r>
          </a:p>
        </p:txBody>
      </p:sp>
      <p:sp>
        <p:nvSpPr>
          <p:cNvPr id="3" name="Vannamei_Broodstock"/>
          <p:cNvSpPr/>
          <p:nvPr/>
        </p:nvSpPr>
        <p:spPr>
          <a:xfrm>
            <a:off x="800000" y="8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Vannamei
Broodstock</a:t>
            </a:r>
          </a:p>
        </p:txBody>
      </p:sp>
      <p:sp>
        <p:nvSpPr>
          <p:cNvPr id="4" name="Egg"/>
          <p:cNvSpPr/>
          <p:nvPr/>
        </p:nvSpPr>
        <p:spPr>
          <a:xfrm>
            <a:off x="1500000" y="22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Egg</a:t>
            </a:r>
          </a:p>
        </p:txBody>
      </p:sp>
      <p:sp>
        <p:nvSpPr>
          <p:cNvPr id="5" name="Nauplii"/>
          <p:cNvSpPr/>
          <p:nvPr/>
        </p:nvSpPr>
        <p:spPr>
          <a:xfrm>
            <a:off x="1500000" y="38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Nauplii</a:t>
            </a:r>
          </a:p>
        </p:txBody>
      </p:sp>
      <p:sp>
        <p:nvSpPr>
          <p:cNvPr id="6" name="Zoea"/>
          <p:cNvSpPr/>
          <p:nvPr/>
        </p:nvSpPr>
        <p:spPr>
          <a:xfrm>
            <a:off x="3500000" y="32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Zoea</a:t>
            </a:r>
          </a:p>
        </p:txBody>
      </p:sp>
      <p:sp>
        <p:nvSpPr>
          <p:cNvPr id="7" name="Mysis"/>
          <p:cNvSpPr/>
          <p:nvPr/>
        </p:nvSpPr>
        <p:spPr>
          <a:xfrm>
            <a:off x="5500000" y="40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Mysis</a:t>
            </a:r>
          </a:p>
        </p:txBody>
      </p:sp>
      <p:sp>
        <p:nvSpPr>
          <p:cNvPr id="8" name="Post Larvae"/>
          <p:cNvSpPr/>
          <p:nvPr/>
        </p:nvSpPr>
        <p:spPr>
          <a:xfrm>
            <a:off x="7500000" y="3800000"/>
            <a:ext cx="1200000" cy="1200000"/>
          </a:xfrm>
          <a:prstGeom prst="ellipse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1000" b="1">
                <a:solidFill>
                  <a:srgbClr val="000000"/>
                </a:solidFill>
                <a:latin typeface="Calibri"/>
              </a:rPr>
              <a:t>Post Larvae</a:t>
            </a:r>
          </a:p>
        </p:txBody>
      </p:sp>
      <p:sp>
        <p:nvSpPr>
          <p:cNvPr id="9" name="dur_1 day"/>
          <p:cNvSpPr txBox="1"/>
          <p:nvPr/>
        </p:nvSpPr>
        <p:spPr>
          <a:xfrm>
            <a:off x="1200000" y="3100000"/>
            <a:ext cx="8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00" b="1">
                <a:solidFill>
                  <a:srgbClr val="333333"/>
                </a:solidFill>
                <a:latin typeface="Calibri"/>
              </a:rPr>
              <a:t>1 day</a:t>
            </a:r>
          </a:p>
        </p:txBody>
      </p:sp>
      <p:sp>
        <p:nvSpPr>
          <p:cNvPr id="10" name="dur_1 day"/>
          <p:cNvSpPr txBox="1"/>
          <p:nvPr/>
        </p:nvSpPr>
        <p:spPr>
          <a:xfrm>
            <a:off x="2200000" y="3800000"/>
            <a:ext cx="8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00" b="1">
                <a:solidFill>
                  <a:srgbClr val="333333"/>
                </a:solidFill>
                <a:latin typeface="Calibri"/>
              </a:rPr>
              <a:t>1 day</a:t>
            </a:r>
          </a:p>
        </p:txBody>
      </p:sp>
      <p:sp>
        <p:nvSpPr>
          <p:cNvPr id="11" name="dur_3 day"/>
          <p:cNvSpPr txBox="1"/>
          <p:nvPr/>
        </p:nvSpPr>
        <p:spPr>
          <a:xfrm>
            <a:off x="4200000" y="3900000"/>
            <a:ext cx="8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00" b="1">
                <a:solidFill>
                  <a:srgbClr val="333333"/>
                </a:solidFill>
                <a:latin typeface="Calibri"/>
              </a:rPr>
              <a:t>3 day</a:t>
            </a:r>
          </a:p>
        </p:txBody>
      </p:sp>
      <p:sp>
        <p:nvSpPr>
          <p:cNvPr id="12" name="dur_2 day"/>
          <p:cNvSpPr txBox="1"/>
          <p:nvPr/>
        </p:nvSpPr>
        <p:spPr>
          <a:xfrm>
            <a:off x="6200000" y="4200000"/>
            <a:ext cx="8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00" b="1">
                <a:solidFill>
                  <a:srgbClr val="333333"/>
                </a:solidFill>
                <a:latin typeface="Calibri"/>
              </a:rPr>
              <a:t>2 day</a:t>
            </a:r>
          </a:p>
        </p:txBody>
      </p:sp>
      <p:cxnSp>
        <p:nvCxnSpPr>
          <p:cNvPr id="13" name="arr13"/>
          <p:cNvCxnSpPr/>
          <p:nvPr/>
        </p:nvCxnSpPr>
        <p:spPr>
          <a:xfrm>
            <a:off x="2100000" y="1800000"/>
            <a:ext cx="0" cy="4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cxnSp>
        <p:nvCxnSpPr>
          <p:cNvPr id="14" name="arr14"/>
          <p:cNvCxnSpPr/>
          <p:nvPr/>
        </p:nvCxnSpPr>
        <p:spPr>
          <a:xfrm>
            <a:off x="1800000" y="3200000"/>
            <a:ext cx="0" cy="6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cxnSp>
        <p:nvCxnSpPr>
          <p:cNvPr id="15" name="arr15"/>
          <p:cNvCxnSpPr/>
          <p:nvPr/>
        </p:nvCxnSpPr>
        <p:spPr>
          <a:xfrm>
            <a:off x="2700000" y="4000000"/>
            <a:ext cx="800000" cy="-2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cxnSp>
        <p:nvCxnSpPr>
          <p:cNvPr id="16" name="arr16"/>
          <p:cNvCxnSpPr/>
          <p:nvPr/>
        </p:nvCxnSpPr>
        <p:spPr>
          <a:xfrm>
            <a:off x="4700000" y="3800000"/>
            <a:ext cx="800000" cy="4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cxnSp>
        <p:nvCxnSpPr>
          <p:cNvPr id="17" name="arr17"/>
          <p:cNvCxnSpPr/>
          <p:nvPr/>
        </p:nvCxnSpPr>
        <p:spPr>
          <a:xfrm>
            <a:off x="6700000" y="4400000"/>
            <a:ext cx="800000" cy="-2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sp>
        <p:nvSpPr>
          <p:cNvPr id="18" name="growout"/>
          <p:cNvSpPr/>
          <p:nvPr/>
        </p:nvSpPr>
        <p:spPr>
          <a:xfrm>
            <a:off x="8500000" y="2500000"/>
            <a:ext cx="2800000" cy="12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000000"/>
                </a:solidFill>
                <a:latin typeface="Calibri"/>
              </a:rPr>
              <a:t>Grow-out Ponds
Feeding: 4 times per day
FCR = 1.34</a:t>
            </a:r>
          </a:p>
        </p:txBody>
      </p:sp>
      <p:cxnSp>
        <p:nvCxnSpPr>
          <p:cNvPr id="19" name="arr_pl_go"/>
          <p:cNvCxnSpPr/>
          <p:nvPr/>
        </p:nvCxnSpPr>
        <p:spPr>
          <a:xfrm>
            <a:off x="8100000" y="3800000"/>
            <a:ext cx="1000000" cy="-8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sp>
        <p:nvSpPr>
          <p:cNvPr id="20" name="harvest"/>
          <p:cNvSpPr/>
          <p:nvPr/>
        </p:nvSpPr>
        <p:spPr>
          <a:xfrm>
            <a:off x="8500000" y="700000"/>
            <a:ext cx="2800000" cy="10000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0D47A1"/>
            </a:solidFill>
          </a:ln>
        </p:spPr>
        <p:txBody>
          <a:bodyPr wrap="square" anchor="ctr" anchorCtr="1"/>
          <a:lstStyle/>
          <a:p>
            <a:pPr algn="ctr"/>
            <a:r>
              <a:rPr lang="en-US" sz="900" b="1">
                <a:solidFill>
                  <a:srgbClr val="000000"/>
                </a:solidFill>
                <a:latin typeface="Calibri"/>
              </a:rPr>
              <a:t>After 3-3.5 months,
vannamei shrimp is harvested</a:t>
            </a:r>
          </a:p>
        </p:txBody>
      </p:sp>
      <p:cxnSp>
        <p:nvCxnSpPr>
          <p:cNvPr id="21" name="arr_go_h"/>
          <p:cNvCxnSpPr/>
          <p:nvPr/>
        </p:nvCxnSpPr>
        <p:spPr>
          <a:xfrm>
            <a:off x="9900000" y="2500000"/>
            <a:ext cx="0" cy="-800000"/>
          </a:xfrm>
          <a:prstGeom prst="straightConnector1">
            <a:avLst/>
          </a:prstGeom>
          <a:ln w="19050">
            <a:solidFill>
              <a:srgbClr val="0D47A1"/>
            </a:solidFill>
            <a:tailEnd type="triangle"/>
          </a:ln>
        </p:spPr>
      </p:cxnSp>
      <p:sp>
        <p:nvSpPr>
          <p:cNvPr id="22" name="note"/>
          <p:cNvSpPr txBox="1"/>
          <p:nvPr/>
        </p:nvSpPr>
        <p:spPr>
          <a:xfrm>
            <a:off x="7500000" y="3000000"/>
            <a:ext cx="25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>
                <a:solidFill>
                  <a:srgbClr val="333333"/>
                </a:solidFill>
                <a:latin typeface="Calibri"/>
              </a:rPr>
              <a:t>The Post larvae are transferred to grow-out the ponds</a:t>
            </a:r>
          </a:p>
        </p:txBody>
      </p:sp>
    </p:spTree>
  </p:cSld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