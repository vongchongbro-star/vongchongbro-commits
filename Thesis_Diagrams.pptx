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_top_0"/>
          <p:cNvSpPr>
            <a:spLocks noChangeArrowheads="1"/>
          </p:cNvSpPr>
          <p:nvPr/>
        </p:nvSpPr>
        <p:spPr>
          <a:xfrm>
            <a:off x="4896000" y="200000"/>
            <a:ext cx="2400000" cy="450000"/>
          </a:xfrm>
          <a:prstGeom prst="rec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Problem identification</a:t>
            </a:r>
          </a:p>
        </p:txBody>
      </p:sp>
      <p:sp>
        <p:nvSpPr>
          <p:cNvPr id="3" name="arr_top_0"/>
          <p:cNvSpPr>
            <a:spLocks noChangeArrowheads="1"/>
          </p:cNvSpPr>
          <p:nvPr/>
        </p:nvSpPr>
        <p:spPr>
          <a:xfrm>
            <a:off x="5996000" y="65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" name="box_top_1"/>
          <p:cNvSpPr>
            <a:spLocks noChangeArrowheads="1"/>
          </p:cNvSpPr>
          <p:nvPr/>
        </p:nvSpPr>
        <p:spPr>
          <a:xfrm>
            <a:off x="4896000" y="830000"/>
            <a:ext cx="2400000" cy="450000"/>
          </a:xfrm>
          <a:prstGeom prst="rec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Site selection</a:t>
            </a:r>
          </a:p>
        </p:txBody>
      </p:sp>
      <p:sp>
        <p:nvSpPr>
          <p:cNvPr id="5" name="arr_top_1"/>
          <p:cNvSpPr>
            <a:spLocks noChangeArrowheads="1"/>
          </p:cNvSpPr>
          <p:nvPr/>
        </p:nvSpPr>
        <p:spPr>
          <a:xfrm>
            <a:off x="5996000" y="128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box_top_2"/>
          <p:cNvSpPr>
            <a:spLocks noChangeArrowheads="1"/>
          </p:cNvSpPr>
          <p:nvPr/>
        </p:nvSpPr>
        <p:spPr>
          <a:xfrm>
            <a:off x="4896000" y="1460000"/>
            <a:ext cx="2400000" cy="450000"/>
          </a:xfrm>
          <a:prstGeom prst="rec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7" name="arr_top_2"/>
          <p:cNvSpPr>
            <a:spLocks noChangeArrowheads="1"/>
          </p:cNvSpPr>
          <p:nvPr/>
        </p:nvSpPr>
        <p:spPr>
          <a:xfrm>
            <a:off x="5996000" y="191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box_top_3"/>
          <p:cNvSpPr>
            <a:spLocks noChangeArrowheads="1"/>
          </p:cNvSpPr>
          <p:nvPr/>
        </p:nvSpPr>
        <p:spPr>
          <a:xfrm>
            <a:off x="4896000" y="2090000"/>
            <a:ext cx="2400000" cy="450000"/>
          </a:xfrm>
          <a:prstGeom prst="rec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Field observation</a:t>
            </a:r>
          </a:p>
        </p:txBody>
      </p:sp>
      <p:sp>
        <p:nvSpPr>
          <p:cNvPr id="9" name="arr_top_3"/>
          <p:cNvSpPr>
            <a:spLocks noChangeArrowheads="1"/>
          </p:cNvSpPr>
          <p:nvPr/>
        </p:nvSpPr>
        <p:spPr>
          <a:xfrm>
            <a:off x="5996000" y="254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box_top_4"/>
          <p:cNvSpPr>
            <a:spLocks noChangeArrowheads="1"/>
          </p:cNvSpPr>
          <p:nvPr/>
        </p:nvSpPr>
        <p:spPr>
          <a:xfrm>
            <a:off x="4896000" y="2720000"/>
            <a:ext cx="2400000" cy="45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11" name="primary"/>
          <p:cNvSpPr>
            <a:spLocks noChangeArrowheads="1"/>
          </p:cNvSpPr>
          <p:nvPr/>
        </p:nvSpPr>
        <p:spPr>
          <a:xfrm>
            <a:off x="2896000" y="3550000"/>
            <a:ext cx="1900000" cy="45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Primary</a:t>
            </a:r>
          </a:p>
        </p:txBody>
      </p:sp>
      <p:sp>
        <p:nvSpPr>
          <p:cNvPr id="12" name="secondary"/>
          <p:cNvSpPr>
            <a:spLocks noChangeArrowheads="1"/>
          </p:cNvSpPr>
          <p:nvPr/>
        </p:nvSpPr>
        <p:spPr>
          <a:xfrm>
            <a:off x="7396000" y="3550000"/>
            <a:ext cx="1900000" cy="45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500" b="1" dirty="0">
                <a:solidFill>
                  <a:srgbClr val="FFFFFF"/>
                </a:solidFill>
                <a:latin typeface="Calibri"/>
              </a:rPr>
              <a:t>Secondary</a:t>
            </a:r>
          </a:p>
        </p:txBody>
      </p:sp>
      <p:sp>
        <p:nvSpPr>
          <p:cNvPr id="13" name="lr_arrow"/>
          <p:cNvSpPr>
            <a:spLocks noChangeArrowheads="1"/>
          </p:cNvSpPr>
          <p:nvPr/>
        </p:nvSpPr>
        <p:spPr>
          <a:xfrm>
            <a:off x="4846000" y="3695000"/>
            <a:ext cx="2500000" cy="160000"/>
          </a:xfrm>
          <a:prstGeom prst="leftRightArrow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arr_to_pri"/>
          <p:cNvSpPr>
            <a:spLocks noChangeArrowheads="1"/>
          </p:cNvSpPr>
          <p:nvPr/>
        </p:nvSpPr>
        <p:spPr>
          <a:xfrm>
            <a:off x="3746000" y="3170000"/>
            <a:ext cx="200000" cy="3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arr_to_sec"/>
          <p:cNvSpPr>
            <a:spLocks noChangeArrowheads="1"/>
          </p:cNvSpPr>
          <p:nvPr/>
        </p:nvSpPr>
        <p:spPr>
          <a:xfrm>
            <a:off x="8246000" y="3170000"/>
            <a:ext cx="200000" cy="3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seg_left"/>
          <p:cNvSpPr>
            <a:spLocks noChangeArrowheads="1"/>
          </p:cNvSpPr>
          <p:nvPr/>
        </p:nvSpPr>
        <p:spPr>
          <a:xfrm>
            <a:off x="3846000" y="3210000"/>
            <a:ext cx="2250000" cy="3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7" name="seg_right"/>
          <p:cNvSpPr>
            <a:spLocks noChangeArrowheads="1"/>
          </p:cNvSpPr>
          <p:nvPr/>
        </p:nvSpPr>
        <p:spPr>
          <a:xfrm>
            <a:off x="6096000" y="3210000"/>
            <a:ext cx="2250000" cy="3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p_list"/>
          <p:cNvSpPr txBox="1"/>
          <p:nvPr/>
        </p:nvSpPr>
        <p:spPr>
          <a:xfrm>
            <a:off x="2896000" y="4050000"/>
            <a:ext cx="2100000" cy="8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Questionnaire Survey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KII (Key Informative Interview)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Observational Survey</a:t>
            </a:r>
          </a:p>
        </p:txBody>
      </p:sp>
      <p:sp>
        <p:nvSpPr>
          <p:cNvPr id="19" name="s_list"/>
          <p:cNvSpPr txBox="1"/>
          <p:nvPr/>
        </p:nvSpPr>
        <p:spPr>
          <a:xfrm>
            <a:off x="7396000" y="4050000"/>
            <a:ext cx="2100000" cy="8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Govt. website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Upazila Administrative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Books, Journal and Articles</a:t>
            </a:r>
          </a:p>
        </p:txBody>
      </p:sp>
      <p:sp>
        <p:nvSpPr>
          <p:cNvPr id="20" name="data_acq"/>
          <p:cNvSpPr>
            <a:spLocks noChangeArrowheads="1"/>
          </p:cNvSpPr>
          <p:nvPr/>
        </p:nvSpPr>
        <p:spPr>
          <a:xfrm>
            <a:off x="4896000" y="4950000"/>
            <a:ext cx="2400000" cy="45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Data acquisition</a:t>
            </a:r>
          </a:p>
        </p:txBody>
      </p:sp>
      <p:sp>
        <p:nvSpPr>
          <p:cNvPr id="21" name="conv_seg_l"/>
          <p:cNvSpPr>
            <a:spLocks noChangeArrowheads="1"/>
          </p:cNvSpPr>
          <p:nvPr/>
        </p:nvSpPr>
        <p:spPr>
          <a:xfrm>
            <a:off x="3846000" y="4830000"/>
            <a:ext cx="2250000" cy="3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2" name="conv_seg_r"/>
          <p:cNvSpPr>
            <a:spLocks noChangeArrowheads="1"/>
          </p:cNvSpPr>
          <p:nvPr/>
        </p:nvSpPr>
        <p:spPr>
          <a:xfrm>
            <a:off x="6096000" y="4830000"/>
            <a:ext cx="2250000" cy="3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conv_to_da"/>
          <p:cNvSpPr>
            <a:spLocks noChangeArrowheads="1"/>
          </p:cNvSpPr>
          <p:nvPr/>
        </p:nvSpPr>
        <p:spPr>
          <a:xfrm>
            <a:off x="5996000" y="4830000"/>
            <a:ext cx="200000" cy="12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4" name="vseg_l"/>
          <p:cNvSpPr>
            <a:spLocks noChangeArrowheads="1"/>
          </p:cNvSpPr>
          <p:nvPr/>
        </p:nvSpPr>
        <p:spPr>
          <a:xfrm>
            <a:off x="3831000" y="4150000"/>
            <a:ext cx="30000" cy="68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5" name="vseg_r"/>
          <p:cNvSpPr>
            <a:spLocks noChangeArrowheads="1"/>
          </p:cNvSpPr>
          <p:nvPr/>
        </p:nvSpPr>
        <p:spPr>
          <a:xfrm>
            <a:off x="8331000" y="4150000"/>
            <a:ext cx="30000" cy="680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6" name="arr_da_an"/>
          <p:cNvSpPr>
            <a:spLocks noChangeArrowheads="1"/>
          </p:cNvSpPr>
          <p:nvPr/>
        </p:nvSpPr>
        <p:spPr>
          <a:xfrm>
            <a:off x="5996000" y="540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7" name="data_an"/>
          <p:cNvSpPr>
            <a:spLocks noChangeArrowheads="1"/>
          </p:cNvSpPr>
          <p:nvPr/>
        </p:nvSpPr>
        <p:spPr>
          <a:xfrm>
            <a:off x="4896000" y="5580000"/>
            <a:ext cx="2400000" cy="450000"/>
          </a:xfrm>
          <a:prstGeom prst="rect">
            <a:avLst/>
          </a:prstGeom>
          <a:solidFill>
            <a:srgbClr val="A8D08D"/>
          </a:solidFill>
          <a:ln w="12700">
            <a:solidFill>
              <a:srgbClr val="A8D08D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Calibri"/>
              </a:rPr>
              <a:t>Data analysis</a:t>
            </a:r>
          </a:p>
        </p:txBody>
      </p:sp>
      <p:sp>
        <p:nvSpPr>
          <p:cNvPr id="28" name="an_list"/>
          <p:cNvSpPr txBox="1"/>
          <p:nvPr/>
        </p:nvSpPr>
        <p:spPr>
          <a:xfrm>
            <a:off x="5096000" y="6090000"/>
            <a:ext cx="24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Descriptive analysis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Quantitative analysis</a:t>
            </a:r>
          </a:p>
          <a:p>
            <a:pPr algn="l"/>
            <a:r>
              <a:rPr lang="en-US" sz="950" dirty="0">
                <a:solidFill>
                  <a:srgbClr val="000000"/>
                </a:solidFill>
                <a:latin typeface="Calibri"/>
              </a:rPr>
              <a:t>• Statistical analysis</a:t>
            </a:r>
          </a:p>
        </p:txBody>
      </p:sp>
      <p:sp>
        <p:nvSpPr>
          <p:cNvPr id="29" name="arr_an_dr"/>
          <p:cNvSpPr>
            <a:spLocks noChangeArrowheads="1"/>
          </p:cNvSpPr>
          <p:nvPr/>
        </p:nvSpPr>
        <p:spPr>
          <a:xfrm>
            <a:off x="5996000" y="684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0" name="draft"/>
          <p:cNvSpPr>
            <a:spLocks noChangeArrowheads="1"/>
          </p:cNvSpPr>
          <p:nvPr/>
        </p:nvSpPr>
        <p:spPr>
          <a:xfrm>
            <a:off x="4896000" y="7020000"/>
            <a:ext cx="2400000" cy="450000"/>
          </a:xfrm>
          <a:prstGeom prst="rect">
            <a:avLst/>
          </a:prstGeom>
          <a:solidFill>
            <a:srgbClr val="A8D08D"/>
          </a:solidFill>
          <a:ln w="12700">
            <a:solidFill>
              <a:srgbClr val="A8D08D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Calibri"/>
              </a:rPr>
              <a:t>Draft report</a:t>
            </a:r>
          </a:p>
        </p:txBody>
      </p:sp>
      <p:sp>
        <p:nvSpPr>
          <p:cNvPr id="31" name="arr_dr_fi"/>
          <p:cNvSpPr>
            <a:spLocks noChangeArrowheads="1"/>
          </p:cNvSpPr>
          <p:nvPr/>
        </p:nvSpPr>
        <p:spPr>
          <a:xfrm>
            <a:off x="5996000" y="7470000"/>
            <a:ext cx="200000" cy="180000"/>
          </a:xfrm>
          <a:prstGeom prst="downArrow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2" name="final"/>
          <p:cNvSpPr>
            <a:spLocks noChangeArrowheads="1"/>
          </p:cNvSpPr>
          <p:nvPr/>
        </p:nvSpPr>
        <p:spPr>
          <a:xfrm>
            <a:off x="4896000" y="7650000"/>
            <a:ext cx="2400000" cy="450000"/>
          </a:xfrm>
          <a:prstGeom prst="rect">
            <a:avLst/>
          </a:prstGeom>
          <a:solidFill>
            <a:srgbClr val="A8D08D"/>
          </a:solidFill>
          <a:ln w="12700">
            <a:solidFill>
              <a:srgbClr val="A8D08D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Calibri"/>
              </a:rPr>
              <a:t>Final report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500000" y="200000"/>
            <a:ext cx="9192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alibri"/>
              </a:rPr>
              <a:t>Time line on development of shrimp aquaculture</a:t>
            </a:r>
          </a:p>
        </p:txBody>
      </p:sp>
      <p:sp>
        <p:nvSpPr>
          <p:cNvPr id="3" name="per_0"/>
          <p:cNvSpPr>
            <a:spLocks noChangeArrowheads="1"/>
          </p:cNvSpPr>
          <p:nvPr/>
        </p:nvSpPr>
        <p:spPr>
          <a:xfrm>
            <a:off x="1196000" y="3100000"/>
            <a:ext cx="1100000" cy="700000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Before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1970</a:t>
            </a:r>
          </a:p>
        </p:txBody>
      </p:sp>
      <p:sp>
        <p:nvSpPr>
          <p:cNvPr id="4" name="tarr_0"/>
          <p:cNvSpPr>
            <a:spLocks noChangeArrowheads="1"/>
          </p:cNvSpPr>
          <p:nvPr/>
        </p:nvSpPr>
        <p:spPr>
          <a:xfrm>
            <a:off x="229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per_1"/>
          <p:cNvSpPr>
            <a:spLocks noChangeArrowheads="1"/>
          </p:cNvSpPr>
          <p:nvPr/>
        </p:nvSpPr>
        <p:spPr>
          <a:xfrm>
            <a:off x="2646000" y="3100000"/>
            <a:ext cx="1100000" cy="700000"/>
          </a:xfrm>
          <a:prstGeom prst="rect">
            <a:avLst/>
          </a:prstGeom>
          <a:solidFill>
            <a:srgbClr val="2E5496"/>
          </a:solidFill>
          <a:ln w="12700">
            <a:solidFill>
              <a:srgbClr val="2E5496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1970-1980</a:t>
            </a:r>
          </a:p>
        </p:txBody>
      </p:sp>
      <p:sp>
        <p:nvSpPr>
          <p:cNvPr id="6" name="tarr_1"/>
          <p:cNvSpPr>
            <a:spLocks noChangeArrowheads="1"/>
          </p:cNvSpPr>
          <p:nvPr/>
        </p:nvSpPr>
        <p:spPr>
          <a:xfrm>
            <a:off x="374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per_2"/>
          <p:cNvSpPr>
            <a:spLocks noChangeArrowheads="1"/>
          </p:cNvSpPr>
          <p:nvPr/>
        </p:nvSpPr>
        <p:spPr>
          <a:xfrm>
            <a:off x="4096000" y="3100000"/>
            <a:ext cx="1100000" cy="700000"/>
          </a:xfrm>
          <a:prstGeom prst="rect">
            <a:avLst/>
          </a:prstGeom>
          <a:solidFill>
            <a:srgbClr val="A8D08D"/>
          </a:solidFill>
          <a:ln w="12700">
            <a:solidFill>
              <a:srgbClr val="A8D08D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1990-1994</a:t>
            </a:r>
          </a:p>
        </p:txBody>
      </p:sp>
      <p:sp>
        <p:nvSpPr>
          <p:cNvPr id="8" name="tarr_2"/>
          <p:cNvSpPr>
            <a:spLocks noChangeArrowheads="1"/>
          </p:cNvSpPr>
          <p:nvPr/>
        </p:nvSpPr>
        <p:spPr>
          <a:xfrm>
            <a:off x="519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per_3"/>
          <p:cNvSpPr>
            <a:spLocks noChangeArrowheads="1"/>
          </p:cNvSpPr>
          <p:nvPr/>
        </p:nvSpPr>
        <p:spPr>
          <a:xfrm>
            <a:off x="5546000" y="3100000"/>
            <a:ext cx="1100000" cy="700000"/>
          </a:xfrm>
          <a:prstGeom prst="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1994</a:t>
            </a:r>
          </a:p>
        </p:txBody>
      </p:sp>
      <p:sp>
        <p:nvSpPr>
          <p:cNvPr id="10" name="tarr_3"/>
          <p:cNvSpPr>
            <a:spLocks noChangeArrowheads="1"/>
          </p:cNvSpPr>
          <p:nvPr/>
        </p:nvSpPr>
        <p:spPr>
          <a:xfrm>
            <a:off x="664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per_4"/>
          <p:cNvSpPr>
            <a:spLocks noChangeArrowheads="1"/>
          </p:cNvSpPr>
          <p:nvPr/>
        </p:nvSpPr>
        <p:spPr>
          <a:xfrm>
            <a:off x="6996000" y="3100000"/>
            <a:ext cx="1100000" cy="700000"/>
          </a:xfrm>
          <a:prstGeom prst="rect">
            <a:avLst/>
          </a:prstGeom>
          <a:solidFill>
            <a:srgbClr val="2E5496"/>
          </a:solidFill>
          <a:ln w="12700">
            <a:solidFill>
              <a:srgbClr val="2E5496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1995-2005</a:t>
            </a:r>
          </a:p>
        </p:txBody>
      </p:sp>
      <p:sp>
        <p:nvSpPr>
          <p:cNvPr id="12" name="tarr_4"/>
          <p:cNvSpPr>
            <a:spLocks noChangeArrowheads="1"/>
          </p:cNvSpPr>
          <p:nvPr/>
        </p:nvSpPr>
        <p:spPr>
          <a:xfrm>
            <a:off x="809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per_5"/>
          <p:cNvSpPr>
            <a:spLocks noChangeArrowheads="1"/>
          </p:cNvSpPr>
          <p:nvPr/>
        </p:nvSpPr>
        <p:spPr>
          <a:xfrm>
            <a:off x="8446000" y="3100000"/>
            <a:ext cx="1100000" cy="700000"/>
          </a:xfrm>
          <a:prstGeom prst="rect">
            <a:avLst/>
          </a:prstGeom>
          <a:solidFill>
            <a:srgbClr val="2E5496"/>
          </a:solidFill>
          <a:ln w="12700">
            <a:solidFill>
              <a:srgbClr val="2E5496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2008</a:t>
            </a:r>
          </a:p>
        </p:txBody>
      </p:sp>
      <p:sp>
        <p:nvSpPr>
          <p:cNvPr id="14" name="tarr_5"/>
          <p:cNvSpPr>
            <a:spLocks noChangeArrowheads="1"/>
          </p:cNvSpPr>
          <p:nvPr/>
        </p:nvSpPr>
        <p:spPr>
          <a:xfrm>
            <a:off x="9546000" y="3370000"/>
            <a:ext cx="350000" cy="160000"/>
          </a:xfrm>
          <a:prstGeom prst="rightArrow">
            <a:avLst/>
          </a:prstGeom>
          <a:solidFill>
            <a:srgbClr val="9933CC"/>
          </a:solidFill>
          <a:ln w="12700">
            <a:solidFill>
              <a:srgbClr val="9933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per_6"/>
          <p:cNvSpPr>
            <a:spLocks noChangeArrowheads="1"/>
          </p:cNvSpPr>
          <p:nvPr/>
        </p:nvSpPr>
        <p:spPr>
          <a:xfrm>
            <a:off x="9896000" y="3100000"/>
            <a:ext cx="1100000" cy="700000"/>
          </a:xfrm>
          <a:prstGeom prst="rect">
            <a:avLst/>
          </a:prstGeom>
          <a:solidFill>
            <a:srgbClr val="A8D08D"/>
          </a:solidFill>
          <a:ln w="12700">
            <a:solidFill>
              <a:srgbClr val="A8D08D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2009</a:t>
            </a: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Till date</a:t>
            </a:r>
          </a:p>
        </p:txBody>
      </p:sp>
      <p:sp>
        <p:nvSpPr>
          <p:cNvPr id="16" name="top_co_1"/>
          <p:cNvSpPr>
            <a:spLocks noChangeArrowheads="1"/>
          </p:cNvSpPr>
          <p:nvPr/>
        </p:nvSpPr>
        <p:spPr>
          <a:xfrm>
            <a:off x="2346000" y="1350000"/>
            <a:ext cx="1700000" cy="1700000"/>
          </a:xfrm>
          <a:prstGeom prst="down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Induced breeding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Penaeus indicus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basic biological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studies</a:t>
            </a:r>
          </a:p>
        </p:txBody>
      </p:sp>
      <p:sp>
        <p:nvSpPr>
          <p:cNvPr id="17" name="top_co_3"/>
          <p:cNvSpPr>
            <a:spLocks noChangeArrowheads="1"/>
          </p:cNvSpPr>
          <p:nvPr/>
        </p:nvSpPr>
        <p:spPr>
          <a:xfrm>
            <a:off x="5246000" y="1350000"/>
            <a:ext cx="1700000" cy="1700000"/>
          </a:xfrm>
          <a:prstGeom prst="down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First out break of WSSV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in India</a:t>
            </a:r>
          </a:p>
        </p:txBody>
      </p:sp>
      <p:sp>
        <p:nvSpPr>
          <p:cNvPr id="18" name="top_co_5"/>
          <p:cNvSpPr>
            <a:spLocks noChangeArrowheads="1"/>
          </p:cNvSpPr>
          <p:nvPr/>
        </p:nvSpPr>
        <p:spPr>
          <a:xfrm>
            <a:off x="8146000" y="1350000"/>
            <a:ext cx="1700000" cy="1700000"/>
          </a:xfrm>
          <a:prstGeom prst="down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Introduction of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vannamei</a:t>
            </a:r>
          </a:p>
        </p:txBody>
      </p:sp>
      <p:sp>
        <p:nvSpPr>
          <p:cNvPr id="19" name="bot_co_0"/>
          <p:cNvSpPr>
            <a:spLocks noChangeArrowheads="1"/>
          </p:cNvSpPr>
          <p:nvPr/>
        </p:nvSpPr>
        <p:spPr>
          <a:xfrm>
            <a:off x="896000" y="3850000"/>
            <a:ext cx="1700000" cy="1700000"/>
          </a:xfrm>
          <a:prstGeom prst="up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Initial experiment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on traditional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shrimp farms of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Kerala a</a:t>
            </a:r>
          </a:p>
        </p:txBody>
      </p:sp>
      <p:sp>
        <p:nvSpPr>
          <p:cNvPr id="20" name="bot_co_2"/>
          <p:cNvSpPr>
            <a:spLocks noChangeArrowheads="1"/>
          </p:cNvSpPr>
          <p:nvPr/>
        </p:nvSpPr>
        <p:spPr>
          <a:xfrm>
            <a:off x="3796000" y="3850000"/>
            <a:ext cx="1700000" cy="1700000"/>
          </a:xfrm>
          <a:prstGeom prst="up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Boom period of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shrimp culture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Penaeus monodon</a:t>
            </a:r>
          </a:p>
        </p:txBody>
      </p:sp>
      <p:sp>
        <p:nvSpPr>
          <p:cNvPr id="21" name="bot_co_4"/>
          <p:cNvSpPr>
            <a:spLocks noChangeArrowheads="1"/>
          </p:cNvSpPr>
          <p:nvPr/>
        </p:nvSpPr>
        <p:spPr>
          <a:xfrm>
            <a:off x="6696000" y="3850000"/>
            <a:ext cx="1700000" cy="1700000"/>
          </a:xfrm>
          <a:prstGeom prst="up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Supreme court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verdict for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regulation of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shrimp farming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CAA established</a:t>
            </a:r>
          </a:p>
        </p:txBody>
      </p:sp>
      <p:sp>
        <p:nvSpPr>
          <p:cNvPr id="22" name="bot_co_6"/>
          <p:cNvSpPr>
            <a:spLocks noChangeArrowheads="1"/>
          </p:cNvSpPr>
          <p:nvPr/>
        </p:nvSpPr>
        <p:spPr>
          <a:xfrm>
            <a:off x="9596000" y="3850000"/>
            <a:ext cx="1700000" cy="1700000"/>
          </a:xfrm>
          <a:prstGeom prst="upArrowCallout">
            <a:avLst/>
          </a:prstGeom>
          <a:solidFill>
            <a:srgbClr val="5DAE4F"/>
          </a:solidFill>
          <a:ln w="12700">
            <a:solidFill>
              <a:srgbClr val="5DAE4F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Total farmed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shrimp production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reached up to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4.2 lakh tones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500000" y="200000"/>
            <a:ext cx="919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Calibri"/>
              </a:rPr>
              <a:t>Vannamei Shrimp Life Cycle</a:t>
            </a:r>
          </a:p>
        </p:txBody>
      </p:sp>
      <p:sp>
        <p:nvSpPr>
          <p:cNvPr id="3" name="broodstock_box"/>
          <p:cNvSpPr>
            <a:spLocks noChangeArrowheads="1"/>
          </p:cNvSpPr>
          <p:nvPr/>
        </p:nvSpPr>
        <p:spPr>
          <a:xfrm>
            <a:off x="600000" y="1000000"/>
            <a:ext cx="1700000" cy="900000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Vannamei</a:t>
            </a:r>
          </a:p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Broodstock</a:t>
            </a:r>
          </a:p>
        </p:txBody>
      </p:sp>
      <p:sp>
        <p:nvSpPr>
          <p:cNvPr id="4" name="arr_brood_egg"/>
          <p:cNvSpPr>
            <a:spLocks noChangeArrowheads="1"/>
          </p:cNvSpPr>
          <p:nvPr/>
        </p:nvSpPr>
        <p:spPr>
          <a:xfrm>
            <a:off x="1375000" y="1900000"/>
            <a:ext cx="150000" cy="200000"/>
          </a:xfrm>
          <a:prstGeom prst="down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egg"/>
          <p:cNvSpPr>
            <a:spLocks noChangeArrowheads="1"/>
          </p:cNvSpPr>
          <p:nvPr/>
        </p:nvSpPr>
        <p:spPr>
          <a:xfrm>
            <a:off x="900000" y="2100000"/>
            <a:ext cx="1100000" cy="1100000"/>
          </a:xfrm>
          <a:prstGeom prst="ellipse">
            <a:avLst/>
          </a:prstGeom>
          <a:solidFill>
            <a:srgbClr val="BDD7EE"/>
          </a:solidFill>
          <a:ln w="12700">
            <a:solidFill>
              <a:srgbClr val="BDD7EE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Egg</a:t>
            </a:r>
          </a:p>
        </p:txBody>
      </p:sp>
      <p:sp>
        <p:nvSpPr>
          <p:cNvPr id="6" name="arr_egg_nau"/>
          <p:cNvSpPr>
            <a:spLocks noChangeArrowheads="1"/>
          </p:cNvSpPr>
          <p:nvPr/>
        </p:nvSpPr>
        <p:spPr>
          <a:xfrm>
            <a:off x="1375000" y="3200000"/>
            <a:ext cx="150000" cy="350000"/>
          </a:xfrm>
          <a:prstGeom prst="down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lbl_1day_a"/>
          <p:cNvSpPr txBox="1"/>
          <p:nvPr/>
        </p:nvSpPr>
        <p:spPr>
          <a:xfrm>
            <a:off x="2050000" y="33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00" b="1" dirty="0">
                <a:solidFill>
                  <a:srgbClr val="000000"/>
                </a:solidFill>
                <a:latin typeface="Calibri"/>
              </a:rPr>
              <a:t>1 day</a:t>
            </a:r>
          </a:p>
        </p:txBody>
      </p:sp>
      <p:sp>
        <p:nvSpPr>
          <p:cNvPr id="8" name="nauplii"/>
          <p:cNvSpPr>
            <a:spLocks noChangeArrowheads="1"/>
          </p:cNvSpPr>
          <p:nvPr/>
        </p:nvSpPr>
        <p:spPr>
          <a:xfrm>
            <a:off x="900000" y="3550000"/>
            <a:ext cx="1100000" cy="1100000"/>
          </a:xfrm>
          <a:prstGeom prst="ellipse">
            <a:avLst/>
          </a:prstGeom>
          <a:solidFill>
            <a:srgbClr val="BDD7EE"/>
          </a:solidFill>
          <a:ln w="12700">
            <a:solidFill>
              <a:srgbClr val="BDD7EE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Nauplii</a:t>
            </a:r>
          </a:p>
        </p:txBody>
      </p:sp>
      <p:sp>
        <p:nvSpPr>
          <p:cNvPr id="9" name="arr_nau_zoea"/>
          <p:cNvSpPr>
            <a:spLocks noChangeArrowheads="1"/>
          </p:cNvSpPr>
          <p:nvPr/>
        </p:nvSpPr>
        <p:spPr>
          <a:xfrm>
            <a:off x="2000000" y="4025000"/>
            <a:ext cx="700000" cy="150000"/>
          </a:xfrm>
          <a:prstGeom prst="right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lbl_1day_b"/>
          <p:cNvSpPr txBox="1"/>
          <p:nvPr/>
        </p:nvSpPr>
        <p:spPr>
          <a:xfrm>
            <a:off x="2100000" y="4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00" b="1" dirty="0">
                <a:solidFill>
                  <a:srgbClr val="000000"/>
                </a:solidFill>
                <a:latin typeface="Calibri"/>
              </a:rPr>
              <a:t>1 day</a:t>
            </a:r>
          </a:p>
        </p:txBody>
      </p:sp>
      <p:sp>
        <p:nvSpPr>
          <p:cNvPr id="11" name="zoea"/>
          <p:cNvSpPr>
            <a:spLocks noChangeArrowheads="1"/>
          </p:cNvSpPr>
          <p:nvPr/>
        </p:nvSpPr>
        <p:spPr>
          <a:xfrm>
            <a:off x="2700000" y="3350000"/>
            <a:ext cx="1100000" cy="1100000"/>
          </a:xfrm>
          <a:prstGeom prst="ellipse">
            <a:avLst/>
          </a:prstGeom>
          <a:solidFill>
            <a:srgbClr val="BDD7EE"/>
          </a:solidFill>
          <a:ln w="12700">
            <a:solidFill>
              <a:srgbClr val="BDD7EE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Zoea</a:t>
            </a:r>
          </a:p>
        </p:txBody>
      </p:sp>
      <p:sp>
        <p:nvSpPr>
          <p:cNvPr id="12" name="arr_zoea_my"/>
          <p:cNvSpPr>
            <a:spLocks noChangeArrowheads="1"/>
          </p:cNvSpPr>
          <p:nvPr/>
        </p:nvSpPr>
        <p:spPr>
          <a:xfrm>
            <a:off x="3800000" y="3825000"/>
            <a:ext cx="700000" cy="150000"/>
          </a:xfrm>
          <a:prstGeom prst="right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lbl_3day"/>
          <p:cNvSpPr txBox="1"/>
          <p:nvPr/>
        </p:nvSpPr>
        <p:spPr>
          <a:xfrm>
            <a:off x="3900000" y="40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00" b="1" dirty="0">
                <a:solidFill>
                  <a:srgbClr val="000000"/>
                </a:solidFill>
                <a:latin typeface="Calibri"/>
              </a:rPr>
              <a:t>3 day</a:t>
            </a:r>
          </a:p>
        </p:txBody>
      </p:sp>
      <p:sp>
        <p:nvSpPr>
          <p:cNvPr id="14" name="mysis"/>
          <p:cNvSpPr>
            <a:spLocks noChangeArrowheads="1"/>
          </p:cNvSpPr>
          <p:nvPr/>
        </p:nvSpPr>
        <p:spPr>
          <a:xfrm>
            <a:off x="4500000" y="3650000"/>
            <a:ext cx="1100000" cy="1100000"/>
          </a:xfrm>
          <a:prstGeom prst="ellipse">
            <a:avLst/>
          </a:prstGeom>
          <a:solidFill>
            <a:srgbClr val="BDD7EE"/>
          </a:solidFill>
          <a:ln w="12700">
            <a:solidFill>
              <a:srgbClr val="BDD7EE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Calibri"/>
              </a:rPr>
              <a:t>Mysis</a:t>
            </a:r>
          </a:p>
        </p:txBody>
      </p:sp>
      <p:sp>
        <p:nvSpPr>
          <p:cNvPr id="15" name="arr_my_pl"/>
          <p:cNvSpPr>
            <a:spLocks noChangeArrowheads="1"/>
          </p:cNvSpPr>
          <p:nvPr/>
        </p:nvSpPr>
        <p:spPr>
          <a:xfrm>
            <a:off x="5600000" y="4125000"/>
            <a:ext cx="700000" cy="150000"/>
          </a:xfrm>
          <a:prstGeom prst="right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lbl_2day"/>
          <p:cNvSpPr txBox="1"/>
          <p:nvPr/>
        </p:nvSpPr>
        <p:spPr>
          <a:xfrm>
            <a:off x="5700000" y="43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00" b="1" dirty="0">
                <a:solidFill>
                  <a:srgbClr val="000000"/>
                </a:solidFill>
                <a:latin typeface="Calibri"/>
              </a:rPr>
              <a:t>2 day</a:t>
            </a:r>
          </a:p>
        </p:txBody>
      </p:sp>
      <p:sp>
        <p:nvSpPr>
          <p:cNvPr id="17" name="post_larvae"/>
          <p:cNvSpPr>
            <a:spLocks noChangeArrowheads="1"/>
          </p:cNvSpPr>
          <p:nvPr/>
        </p:nvSpPr>
        <p:spPr>
          <a:xfrm>
            <a:off x="6300000" y="3350000"/>
            <a:ext cx="1100000" cy="1100000"/>
          </a:xfrm>
          <a:prstGeom prst="ellipse">
            <a:avLst/>
          </a:prstGeom>
          <a:solidFill>
            <a:srgbClr val="C5E0B4"/>
          </a:solidFill>
          <a:ln w="12700">
            <a:solidFill>
              <a:srgbClr val="C5E0B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Calibri"/>
              </a:rPr>
              <a:t>Post Larvae</a:t>
            </a:r>
          </a:p>
        </p:txBody>
      </p:sp>
      <p:sp>
        <p:nvSpPr>
          <p:cNvPr id="18" name="arr_pl_grow"/>
          <p:cNvSpPr>
            <a:spLocks noChangeArrowheads="1"/>
          </p:cNvSpPr>
          <p:nvPr/>
        </p:nvSpPr>
        <p:spPr>
          <a:xfrm>
            <a:off x="6775000" y="2200000"/>
            <a:ext cx="150000" cy="1150000"/>
          </a:xfrm>
          <a:prstGeom prst="up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9" name="growout_box"/>
          <p:cNvSpPr>
            <a:spLocks noChangeArrowheads="1"/>
          </p:cNvSpPr>
          <p:nvPr/>
        </p:nvSpPr>
        <p:spPr>
          <a:xfrm>
            <a:off x="5350000" y="1100000"/>
            <a:ext cx="3000000" cy="11000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Grow-out Ponds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Feeding: 4 times per day</a:t>
            </a: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FCR = 1.34</a:t>
            </a:r>
          </a:p>
        </p:txBody>
      </p:sp>
      <p:sp>
        <p:nvSpPr>
          <p:cNvPr id="20" name="note"/>
          <p:cNvSpPr txBox="1"/>
          <p:nvPr/>
        </p:nvSpPr>
        <p:spPr>
          <a:xfrm>
            <a:off x="7550000" y="3050000"/>
            <a:ext cx="2200000" cy="10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36000" tIns="18000" rIns="36000" bIns="18000"/>
          <a:lstStyle/>
          <a:p>
            <a:pPr algn="l"/>
            <a:r>
              <a:rPr lang="en-US" sz="900" dirty="0">
                <a:solidFill>
                  <a:srgbClr val="000000"/>
                </a:solidFill>
                <a:latin typeface="Calibri"/>
              </a:rPr>
              <a:t>The Post larvae are</a:t>
            </a:r>
          </a:p>
          <a:p>
            <a:pPr algn="l"/>
            <a:r>
              <a:rPr lang="en-US" sz="900" dirty="0">
                <a:solidFill>
                  <a:srgbClr val="000000"/>
                </a:solidFill>
                <a:latin typeface="Calibri"/>
              </a:rPr>
              <a:t>transferred to grow-out</a:t>
            </a:r>
          </a:p>
          <a:p>
            <a:pPr algn="l"/>
            <a:r>
              <a:rPr lang="en-US" sz="900" dirty="0">
                <a:solidFill>
                  <a:srgbClr val="000000"/>
                </a:solidFill>
                <a:latin typeface="Calibri"/>
              </a:rPr>
              <a:t>the ponds</a:t>
            </a:r>
          </a:p>
        </p:txBody>
      </p:sp>
      <p:sp>
        <p:nvSpPr>
          <p:cNvPr id="21" name="harvest_box"/>
          <p:cNvSpPr>
            <a:spLocks noChangeArrowheads="1"/>
          </p:cNvSpPr>
          <p:nvPr/>
        </p:nvSpPr>
        <p:spPr>
          <a:xfrm>
            <a:off x="8550000" y="1000000"/>
            <a:ext cx="2400000" cy="130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FFF2CC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000" b="1" dirty="0">
                <a:solidFill>
                  <a:srgbClr val="000000"/>
                </a:solidFill>
                <a:latin typeface="Calibri"/>
              </a:rPr>
              <a:t>Harvest</a:t>
            </a:r>
          </a:p>
          <a:p>
            <a:pPr algn="ctr"/>
            <a:r>
              <a:rPr lang="en-US" sz="1000" b="1" dirty="0">
                <a:solidFill>
                  <a:srgbClr val="000000"/>
                </a:solidFill>
                <a:latin typeface="Calibri"/>
              </a:rPr>
              <a:t/>
            </a:r>
          </a:p>
          <a:p>
            <a:pPr algn="ctr"/>
            <a:r>
              <a:rPr lang="en-US" sz="1000" b="1" dirty="0">
                <a:solidFill>
                  <a:srgbClr val="000000"/>
                </a:solidFill>
                <a:latin typeface="Calibri"/>
              </a:rPr>
              <a:t>After 3 - 3.5 months,</a:t>
            </a:r>
          </a:p>
          <a:p>
            <a:pPr algn="ctr"/>
            <a:r>
              <a:rPr lang="en-US" sz="1000" b="1" dirty="0">
                <a:solidFill>
                  <a:srgbClr val="000000"/>
                </a:solidFill>
                <a:latin typeface="Calibri"/>
              </a:rPr>
              <a:t>vannamei shrimp</a:t>
            </a:r>
          </a:p>
          <a:p>
            <a:pPr algn="ctr"/>
            <a:r>
              <a:rPr lang="en-US" sz="1000" b="1" dirty="0">
                <a:solidFill>
                  <a:srgbClr val="000000"/>
                </a:solidFill>
                <a:latin typeface="Calibri"/>
              </a:rPr>
              <a:t>is harvested</a:t>
            </a:r>
          </a:p>
        </p:txBody>
      </p:sp>
      <p:sp>
        <p:nvSpPr>
          <p:cNvPr id="22" name="arr_grow_harv"/>
          <p:cNvSpPr>
            <a:spLocks noChangeArrowheads="1"/>
          </p:cNvSpPr>
          <p:nvPr/>
        </p:nvSpPr>
        <p:spPr>
          <a:xfrm>
            <a:off x="8350000" y="1575000"/>
            <a:ext cx="200000" cy="150000"/>
          </a:xfrm>
          <a:prstGeom prst="rightArrow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  <p:txBody>
          <a:bodyPr wrap="square" anchor="ctr" anchorCtr="1" lIns="36000" tIns="36000" rIns="36000" bIns="36000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